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BDF83-A60B-4F8B-8DB0-6408069166D3}" v="12" dt="2026-10-30T13:19:48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LSTM</c:v>
                </c:pt>
                <c:pt idx="1">
                  <c:v>GCN-LSTM</c:v>
                </c:pt>
                <c:pt idx="2">
                  <c:v>Hier. ST</c:v>
                </c:pt>
                <c:pt idx="3">
                  <c:v>CASTNet-Lite</c:v>
                </c:pt>
                <c:pt idx="4">
                  <c:v>Adaptive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23.1587</c:v>
                </c:pt>
                <c:pt idx="1">
                  <c:v>34.117100000000001</c:v>
                </c:pt>
                <c:pt idx="2">
                  <c:v>34.224200000000003</c:v>
                </c:pt>
                <c:pt idx="3">
                  <c:v>33.135399999999997</c:v>
                </c:pt>
                <c:pt idx="4">
                  <c:v>33.369399999999999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70-47BE-928B-05F3AAB3AA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"/>
          <c:min val="0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LSTM</c:v>
                </c:pt>
                <c:pt idx="1">
                  <c:v>GCN-LSTM</c:v>
                </c:pt>
                <c:pt idx="2">
                  <c:v>Hier. ST</c:v>
                </c:pt>
                <c:pt idx="3">
                  <c:v>CASTNet-Lite</c:v>
                </c:pt>
                <c:pt idx="4">
                  <c:v>Adaptive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20.813099999999999</c:v>
                </c:pt>
                <c:pt idx="1">
                  <c:v>43.407299999999999</c:v>
                </c:pt>
                <c:pt idx="2">
                  <c:v>43.442599999999999</c:v>
                </c:pt>
                <c:pt idx="3">
                  <c:v>35.357300000000002</c:v>
                </c:pt>
                <c:pt idx="4">
                  <c:v>35.887099999999997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33-4D42-A0A6-1C5B395900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"/>
          <c:min val="0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483ED-23C0-4683-BB2B-681283C27547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CA14A-1ACB-4399-864A-D5ABEAC74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09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14A-1ACB-4399-864A-D5ABEAC744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8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827116"/>
            <a:ext cx="10332720" cy="175432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Aptos Narrow" panose="020B0004020202020204" pitchFamily="34" charset="0"/>
              </a:rPr>
              <a:t>Adaptive CASTNet: Traffic-State-Dependent Graph Sampling Attention for Multi-Horizon Traffic Flow Forecasting</a:t>
            </a:r>
            <a:endParaRPr sz="3600" b="1" dirty="0">
              <a:solidFill>
                <a:srgbClr val="FFFFFF"/>
              </a:solidFill>
              <a:latin typeface="Aptos Narrow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3408558"/>
            <a:ext cx="9144000" cy="2015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lang="en-IN" sz="1600" b="0" dirty="0">
                <a:solidFill>
                  <a:srgbClr val="B2C2D2"/>
                </a:solidFill>
                <a:latin typeface="Aptos"/>
              </a:rPr>
              <a:t>Presented by:</a:t>
            </a:r>
          </a:p>
          <a:p>
            <a:pPr algn="r"/>
            <a:r>
              <a:rPr lang="en-IN" sz="1600" dirty="0">
                <a:solidFill>
                  <a:srgbClr val="B2C2D2"/>
                </a:solidFill>
                <a:latin typeface="Aptos"/>
              </a:rPr>
              <a:t>Vanshika (S24CSEU0166)</a:t>
            </a:r>
          </a:p>
          <a:p>
            <a:pPr algn="r"/>
            <a:r>
              <a:rPr lang="en-IN" sz="1600" dirty="0">
                <a:solidFill>
                  <a:srgbClr val="B2C2D2"/>
                </a:solidFill>
                <a:latin typeface="Aptos"/>
              </a:rPr>
              <a:t>Aahana Sharma (S24CSEU0035)</a:t>
            </a:r>
          </a:p>
          <a:p>
            <a:pPr algn="r"/>
            <a:r>
              <a:rPr lang="en-IN" sz="1600" dirty="0">
                <a:solidFill>
                  <a:srgbClr val="B2C2D2"/>
                </a:solidFill>
                <a:latin typeface="Aptos"/>
              </a:rPr>
              <a:t>Kriti Bhardwaj (S24CSEU0046)</a:t>
            </a:r>
          </a:p>
          <a:p>
            <a:pPr algn="r"/>
            <a:endParaRPr lang="en-IN" sz="1600" dirty="0">
              <a:solidFill>
                <a:srgbClr val="B2C2D2"/>
              </a:solidFill>
              <a:latin typeface="Aptos"/>
            </a:endParaRPr>
          </a:p>
          <a:p>
            <a:pPr algn="r"/>
            <a:r>
              <a:rPr lang="en-IN" sz="1600" dirty="0">
                <a:solidFill>
                  <a:srgbClr val="B2C2D2"/>
                </a:solidFill>
                <a:latin typeface="Aptos"/>
              </a:rPr>
              <a:t>Presented to:</a:t>
            </a:r>
          </a:p>
          <a:p>
            <a:pPr algn="r"/>
            <a:r>
              <a:rPr lang="en-IN" sz="1600" dirty="0">
                <a:solidFill>
                  <a:srgbClr val="B2C2D2"/>
                </a:solidFill>
                <a:latin typeface="Aptos"/>
              </a:rPr>
              <a:t>Prof. Kumar Saurabh</a:t>
            </a:r>
          </a:p>
          <a:p>
            <a:pPr algn="r"/>
            <a:endParaRPr sz="1300" b="0" dirty="0">
              <a:solidFill>
                <a:srgbClr val="B2C2D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5029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endParaRPr sz="1000" b="0" dirty="0">
              <a:solidFill>
                <a:srgbClr val="646F7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>
                <a:solidFill>
                  <a:srgbClr val="13233A"/>
                </a:solidFill>
                <a:latin typeface="Aptos"/>
              </a:rPr>
              <a:t>Why forecast traffic flow?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F7B"/>
                </a:solidFill>
                <a:latin typeface="Aptos"/>
              </a:rPr>
              <a:t>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53312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B68AA"/>
                </a:solidFill>
                <a:latin typeface="Aptos"/>
              </a:rPr>
              <a:t>Temporal 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46504"/>
            <a:ext cx="3145536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Traffic at a sensor depends on recent observations and evolving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353312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49191"/>
                </a:solidFill>
                <a:latin typeface="Aptos"/>
              </a:rPr>
              <a:t>Spatial 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46504"/>
            <a:ext cx="3145536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Conditions at one road sensor can influence nearby sensors through the network.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1353312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E18B37"/>
                </a:solidFill>
                <a:latin typeface="Aptos"/>
              </a:rPr>
              <a:t>Changing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746504"/>
            <a:ext cx="3145536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The strength of sensor relationships may vary with the current traffic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800" b="1">
                <a:solidFill>
                  <a:srgbClr val="13233A"/>
                </a:solidFill>
                <a:latin typeface="Aptos"/>
              </a:rPr>
              <a:t>Research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1042416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100" b="0">
                <a:solidFill>
                  <a:srgbClr val="28303A"/>
                </a:solidFill>
                <a:latin typeface="Aptos"/>
              </a:rPr>
              <a:t>A fixed road graph preserves physical structure, but may not fully capture state-dependent interactions. This project tests whether reweighting known road connections using current sensor representations improves 1-hour-ahead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>
                <a:solidFill>
                  <a:srgbClr val="13233A"/>
                </a:solidFill>
                <a:latin typeface="Aptos"/>
              </a:rPr>
              <a:t>Research question and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F7B"/>
                </a:solidFill>
                <a:latin typeface="Aptos"/>
              </a:rPr>
              <a:t>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300" b="1">
                <a:solidFill>
                  <a:srgbClr val="13233A"/>
                </a:solidFill>
                <a:latin typeface="Aptos"/>
              </a:rPr>
              <a:t>Does adapting sensor-to-sensor edge weights to the current traffic state improve multi-horizon forecasting over a static CASTNet-inspired model?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241280" cy="214622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•   Utilize the provided road graph as a structural prior.</a:t>
            </a:r>
          </a:p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•   Only learn traffic state-conditioned edge weights on road-graph edges that already exist.</a:t>
            </a:r>
          </a:p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•   Preserve a small top-k neighborhood for graph attention sampling.</a:t>
            </a:r>
          </a:p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•   Compare Adaptive CASTNet against LSTM, GCN-LSTM, Hierarchical ST-Transformer and CASTNet-Lite.</a:t>
            </a:r>
          </a:p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•   Assess performance in general, horizon, low flow, and inference time evaluations.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 dirty="0">
                <a:solidFill>
                  <a:srgbClr val="13233A"/>
                </a:solidFill>
                <a:latin typeface="Aptos"/>
              </a:rPr>
              <a:t>Literature </a:t>
            </a:r>
            <a:r>
              <a:rPr lang="en-IN" sz="2600" b="1" dirty="0">
                <a:solidFill>
                  <a:srgbClr val="13233A"/>
                </a:solidFill>
                <a:latin typeface="Aptos"/>
              </a:rPr>
              <a:t>review</a:t>
            </a:r>
            <a:endParaRPr sz="2600" b="1" dirty="0">
              <a:solidFill>
                <a:srgbClr val="1323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8356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261872"/>
            <a:ext cx="105064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 dirty="0">
                <a:solidFill>
                  <a:srgbClr val="149191"/>
                </a:solidFill>
                <a:latin typeface="Aptos"/>
              </a:rPr>
              <a:t>1  CASTNet (Chen et al., 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55064"/>
            <a:ext cx="10506456" cy="164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 dirty="0">
                <a:solidFill>
                  <a:srgbClr val="28303A"/>
                </a:solidFill>
                <a:latin typeface="Aptos"/>
              </a:rPr>
              <a:t>Graph convolution + graph-sampling attention + temporal features; primary inspiration.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108356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221991"/>
            <a:ext cx="105064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49191"/>
                </a:solidFill>
                <a:latin typeface="Aptos"/>
              </a:rPr>
              <a:t>2  Hierarchical ST graph + Transformer (Huo et al., 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15184"/>
            <a:ext cx="10506456" cy="164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Combines graph-based spatial encoding with Transformer temporal representation.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108356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182112"/>
            <a:ext cx="105064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B68AA"/>
                </a:solidFill>
                <a:latin typeface="Aptos"/>
              </a:rPr>
              <a:t>DCRNN / STGCN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575304"/>
            <a:ext cx="10506456" cy="164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Diffusion/recurrent and graph/temporal convolution approaches.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23360"/>
            <a:ext cx="108356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4142232"/>
            <a:ext cx="105064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 dirty="0">
                <a:solidFill>
                  <a:srgbClr val="2B68AA"/>
                </a:solidFill>
                <a:latin typeface="Aptos"/>
              </a:rPr>
              <a:t>Graph WaveNet / AGCRN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535424"/>
            <a:ext cx="10506456" cy="164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Adaptive dependency learning and node-specific graph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83480"/>
            <a:ext cx="108356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5102352"/>
            <a:ext cx="105064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B68AA"/>
                </a:solidFill>
                <a:latin typeface="Aptos"/>
              </a:rPr>
              <a:t>STSGCN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495544"/>
            <a:ext cx="10506456" cy="164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Explicitly models localized synchronous spatial-temporal correlations.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>
                <a:solidFill>
                  <a:srgbClr val="13233A"/>
                </a:solidFill>
                <a:latin typeface="Aptos"/>
              </a:rPr>
              <a:t>Datasets and forecasting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F7B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53312"/>
            <a:ext cx="49286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B68AA"/>
                </a:solidFill>
                <a:latin typeface="Aptos"/>
              </a:rPr>
              <a:t>PEMS04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4928616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307 sensors  |  16,992 five-minute time steps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Flow channel used as input and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353312"/>
            <a:ext cx="49286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49191"/>
                </a:solidFill>
                <a:latin typeface="Aptos"/>
              </a:rPr>
              <a:t>PEMS08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46504"/>
            <a:ext cx="4928616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170 sensors  |  17,856 five-minute time steps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Flow channel used as input and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546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273552"/>
            <a:ext cx="21854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B68AA"/>
                </a:solidFill>
                <a:latin typeface="Aptos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666744"/>
            <a:ext cx="218541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12 steps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60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1546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9312" y="3273552"/>
            <a:ext cx="21854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E18B37"/>
                </a:solidFill>
                <a:latin typeface="Aptos"/>
              </a:rPr>
              <a:t>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666744"/>
            <a:ext cx="218541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12 steps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60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546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1" y="3273552"/>
            <a:ext cx="21854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B68AA"/>
                </a:solidFill>
                <a:latin typeface="Aptos"/>
              </a:rPr>
              <a:t>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3666744"/>
            <a:ext cx="218541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60 / 20 / 20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chronological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31546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7151" y="3273552"/>
            <a:ext cx="21854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B68AA"/>
                </a:solidFill>
                <a:latin typeface="Aptos"/>
              </a:rPr>
              <a:t>Scaling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1" y="3666744"/>
            <a:ext cx="218541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Train mean &amp; SD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z-normalization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10424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0">
                <a:solidFill>
                  <a:srgbClr val="28303A"/>
                </a:solidFill>
                <a:latin typeface="Aptos"/>
              </a:rPr>
              <a:t>Road graph: Gaussian affinity from sensor distances → symmetrize → threshold at 0.05 → add self-loops → symmetric degree normalization.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 dirty="0">
                <a:solidFill>
                  <a:srgbClr val="13233A"/>
                </a:solidFill>
                <a:latin typeface="Aptos"/>
              </a:rPr>
              <a:t>Adaptive CASTNet: end-to-end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F7B"/>
                </a:solidFill>
                <a:latin typeface="Aptos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481328" cy="1051560"/>
          </a:xfrm>
          <a:prstGeom prst="roundRect">
            <a:avLst/>
          </a:prstGeom>
          <a:solidFill>
            <a:srgbClr val="EBF2F9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395728"/>
            <a:ext cx="133502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3233A"/>
                </a:solidFill>
                <a:latin typeface="Aptos"/>
              </a:rPr>
              <a:t>12-step</a:t>
            </a:r>
            <a:br/>
            <a:r>
              <a:rPr sz="1400" b="1">
                <a:solidFill>
                  <a:srgbClr val="13233A"/>
                </a:solidFill>
                <a:latin typeface="Aptos"/>
              </a:rPr>
              <a:t>sensor history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679192"/>
            <a:ext cx="27432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31720" y="2148840"/>
            <a:ext cx="1481328" cy="1051560"/>
          </a:xfrm>
          <a:prstGeom prst="roundRect">
            <a:avLst/>
          </a:prstGeom>
          <a:solidFill>
            <a:srgbClr val="E2F2F0"/>
          </a:solidFill>
          <a:ln>
            <a:solidFill>
              <a:srgbClr val="14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4872" y="2395728"/>
            <a:ext cx="133502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3233A"/>
                </a:solidFill>
                <a:latin typeface="Aptos"/>
              </a:rPr>
              <a:t>Static graph</a:t>
            </a:r>
            <a:br/>
            <a:r>
              <a:rPr sz="1400" b="1">
                <a:solidFill>
                  <a:srgbClr val="13233A"/>
                </a:solidFill>
                <a:latin typeface="Aptos"/>
              </a:rPr>
              <a:t>convolution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79" y="2679192"/>
            <a:ext cx="274321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2148840"/>
            <a:ext cx="1481328" cy="1051560"/>
          </a:xfrm>
          <a:prstGeom prst="roundRect">
            <a:avLst/>
          </a:prstGeom>
          <a:solidFill>
            <a:srgbClr val="EBF2F9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33672" y="2395728"/>
            <a:ext cx="133502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3233A"/>
                </a:solidFill>
                <a:latin typeface="Aptos"/>
              </a:rPr>
              <a:t>Temporal</a:t>
            </a:r>
            <a:br/>
            <a:r>
              <a:rPr sz="1400" b="1">
                <a:solidFill>
                  <a:srgbClr val="13233A"/>
                </a:solidFill>
                <a:latin typeface="Aptos"/>
              </a:rPr>
              <a:t>convolution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79" y="2679192"/>
            <a:ext cx="274321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89320" y="2148840"/>
            <a:ext cx="1481328" cy="1051560"/>
          </a:xfrm>
          <a:prstGeom prst="roundRect">
            <a:avLst/>
          </a:prstGeom>
          <a:solidFill>
            <a:srgbClr val="E2F2F0"/>
          </a:solidFill>
          <a:ln>
            <a:solidFill>
              <a:srgbClr val="14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62472" y="2395728"/>
            <a:ext cx="133502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3233A"/>
                </a:solidFill>
                <a:latin typeface="Aptos"/>
              </a:rPr>
              <a:t>Latest node</a:t>
            </a:r>
            <a:br/>
            <a:r>
              <a:rPr sz="1400" b="1">
                <a:solidFill>
                  <a:srgbClr val="13233A"/>
                </a:solidFill>
                <a:latin typeface="Aptos"/>
              </a:rPr>
              <a:t>state 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79" y="2679192"/>
            <a:ext cx="274321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18120" y="2148840"/>
            <a:ext cx="1481328" cy="1051560"/>
          </a:xfrm>
          <a:prstGeom prst="roundRect">
            <a:avLst/>
          </a:prstGeom>
          <a:solidFill>
            <a:srgbClr val="EBF2F9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91272" y="2395728"/>
            <a:ext cx="133502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3233A"/>
                </a:solidFill>
                <a:latin typeface="Aptos"/>
              </a:rPr>
              <a:t>Adaptive graph</a:t>
            </a:r>
            <a:br/>
            <a:r>
              <a:rPr sz="1400" b="1">
                <a:solidFill>
                  <a:srgbClr val="13233A"/>
                </a:solidFill>
                <a:latin typeface="Aptos"/>
              </a:rPr>
              <a:t>reweighting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0" y="2679192"/>
            <a:ext cx="27432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46920" y="2148840"/>
            <a:ext cx="1481328" cy="1051560"/>
          </a:xfrm>
          <a:prstGeom prst="roundRect">
            <a:avLst/>
          </a:prstGeom>
          <a:solidFill>
            <a:srgbClr val="E2F2F0"/>
          </a:solidFill>
          <a:ln>
            <a:solidFill>
              <a:srgbClr val="14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20072" y="2395728"/>
            <a:ext cx="133502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3233A"/>
                </a:solidFill>
                <a:latin typeface="Aptos"/>
              </a:rPr>
              <a:t>Top-k sampled</a:t>
            </a:r>
            <a:br/>
            <a:r>
              <a:rPr sz="1400" b="1">
                <a:solidFill>
                  <a:srgbClr val="13233A"/>
                </a:solidFill>
                <a:latin typeface="Aptos"/>
              </a:rPr>
              <a:t>graph attention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977639"/>
            <a:ext cx="2240280" cy="777240"/>
          </a:xfrm>
          <a:prstGeom prst="roundRect">
            <a:avLst/>
          </a:prstGeom>
          <a:solidFill>
            <a:srgbClr val="13233A"/>
          </a:solidFill>
          <a:ln>
            <a:solidFill>
              <a:srgbClr val="13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02352" y="4178808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12-step flow forecast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108192" y="3246120"/>
            <a:ext cx="4279392" cy="685800"/>
          </a:xfrm>
          <a:prstGeom prst="line">
            <a:avLst/>
          </a:prstGeom>
          <a:ln w="25400">
            <a:solidFill>
              <a:srgbClr val="14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5257800"/>
            <a:ext cx="10424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8303A"/>
                </a:solidFill>
                <a:latin typeface="Aptos"/>
              </a:rPr>
              <a:t>The static road graph remains a structural prior: the adaptive learner reweights existing edges rather than creating unrestricted new connections.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>
                <a:solidFill>
                  <a:srgbClr val="13233A"/>
                </a:solidFill>
                <a:latin typeface="Aptos"/>
              </a:rPr>
              <a:t>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F7B"/>
                </a:solidFill>
                <a:latin typeface="Aptos"/>
              </a:rPr>
              <a:t>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53312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B68AA"/>
                </a:solidFill>
                <a:latin typeface="Aptos"/>
              </a:rPr>
              <a:t>Model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3145536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Hidden dimension: 64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Attention heads: 4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Top-k neighbors: 8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Dropout: 0.10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353312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49191"/>
                </a:solidFill>
                <a:latin typeface="Aptos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46504"/>
            <a:ext cx="3145536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AdamW; learning rate 0.001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Batch size: 16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Maximum 50 epochs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Early stopping: patience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65592" y="1353312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E18B37"/>
                </a:solidFill>
                <a:latin typeface="Aptos"/>
              </a:rPr>
              <a:t>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746504"/>
            <a:ext cx="3145536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MAE, RMSE, MAPE, R²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15 / 30 / 60-minute horizons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Low-flow subset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Inference time per 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800" b="1">
                <a:solidFill>
                  <a:srgbClr val="13233A"/>
                </a:solidFill>
                <a:latin typeface="Aptos"/>
              </a:rPr>
              <a:t>Compared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058400" cy="1554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LSTM</a:t>
            </a:r>
          </a:p>
          <a:p>
            <a:pPr>
              <a:spcAft>
                <a:spcPts val="4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GCN-LSTM</a:t>
            </a:r>
          </a:p>
          <a:p>
            <a:pPr>
              <a:spcAft>
                <a:spcPts val="4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Hierarchical ST-Transformer</a:t>
            </a:r>
          </a:p>
          <a:p>
            <a:pPr>
              <a:spcAft>
                <a:spcPts val="4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CASTNet-Lite (static sampled attention)</a:t>
            </a:r>
          </a:p>
          <a:p>
            <a:pPr>
              <a:spcAft>
                <a:spcPts val="4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Adaptive CASTNet (dynamic graph learner added)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>
                <a:solidFill>
                  <a:srgbClr val="13233A"/>
                </a:solidFill>
                <a:latin typeface="Aptos"/>
              </a:rPr>
              <a:t>Results: PEMS04 test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F7B"/>
                </a:solidFill>
                <a:latin typeface="Aptos"/>
              </a:rPr>
              <a:t>RESULTS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234440"/>
          <a:ext cx="64922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41732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1536192"/>
            <a:ext cx="35570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388762"/>
                </a:solidFill>
                <a:latin typeface="Aptos"/>
              </a:rPr>
              <a:t>Best overall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1929384"/>
            <a:ext cx="355701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LSTM: 23.1587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97180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3090672"/>
            <a:ext cx="35570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E18B37"/>
                </a:solidFill>
                <a:latin typeface="Aptos"/>
              </a:rPr>
              <a:t>Adaptive vs static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483864"/>
            <a:ext cx="355701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Adaptive MAE 33.3694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CASTNet-Lite MAE 33.1354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663440"/>
            <a:ext cx="35661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 dirty="0">
                <a:solidFill>
                  <a:srgbClr val="B94646"/>
                </a:solidFill>
                <a:latin typeface="Aptos"/>
              </a:rPr>
              <a:t>Adaptive CASTNet did not improve aggregate MAE/RMSE in this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>
                <a:solidFill>
                  <a:srgbClr val="13233A"/>
                </a:solidFill>
                <a:latin typeface="Aptos"/>
              </a:rPr>
              <a:t>Results: PEMS08 test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F7B"/>
                </a:solidFill>
                <a:latin typeface="Aptos"/>
              </a:rPr>
              <a:t>RESULTS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234440"/>
          <a:ext cx="64922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41732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1536192"/>
            <a:ext cx="35570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388762"/>
                </a:solidFill>
                <a:latin typeface="Aptos"/>
              </a:rPr>
              <a:t>Best overall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1929384"/>
            <a:ext cx="355701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LSTM: 20.8131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97180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3090672"/>
            <a:ext cx="35570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E18B37"/>
                </a:solidFill>
                <a:latin typeface="Aptos"/>
              </a:rPr>
              <a:t>Adaptive vs static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483864"/>
            <a:ext cx="355701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Adaptive MAE 35.8871</a:t>
            </a:r>
            <a:br/>
            <a:r>
              <a:rPr sz="1300" b="0">
                <a:solidFill>
                  <a:srgbClr val="28303A"/>
                </a:solidFill>
                <a:latin typeface="Aptos"/>
              </a:rPr>
              <a:t>CASTNet-Lite MAE 35.3573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663440"/>
            <a:ext cx="35661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B94646"/>
                </a:solidFill>
                <a:latin typeface="Aptos"/>
              </a:rPr>
              <a:t>The same pattern appears on PEMS08: the dynamic module adds complexity without aggregate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>
                <a:solidFill>
                  <a:srgbClr val="13233A"/>
                </a:solidFill>
                <a:latin typeface="Aptos"/>
              </a:rPr>
              <a:t>What do the results tell 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F7B"/>
                </a:solidFill>
                <a:latin typeface="Aptos"/>
              </a:rPr>
              <a:t>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53312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388762"/>
                </a:solidFill>
                <a:latin typeface="Aptos"/>
              </a:rPr>
              <a:t>Finding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3145536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LSTM achieved the lowest overall MAE and RMSE on both PEMS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353312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E18B37"/>
                </a:solidFill>
                <a:latin typeface="Aptos"/>
              </a:rPr>
              <a:t>Finding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46504"/>
            <a:ext cx="3145536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 dirty="0">
                <a:solidFill>
                  <a:srgbClr val="28303A"/>
                </a:solidFill>
                <a:latin typeface="Aptos"/>
              </a:rPr>
              <a:t>CASTNet-Lite slightly outperformed Adaptive CASTNet on aggregate PEMS flow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65592" y="1353312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2B68AA"/>
                </a:solidFill>
                <a:latin typeface="Aptos"/>
              </a:rPr>
              <a:t>Finding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746504"/>
            <a:ext cx="3145536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28303A"/>
                </a:solidFill>
                <a:latin typeface="Aptos"/>
              </a:rPr>
              <a:t>Adaptive graph learning increased parameters from 63,180 to 71,372.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800" b="1">
                <a:solidFill>
                  <a:srgbClr val="13233A"/>
                </a:solidFill>
                <a:latin typeface="Aptos"/>
              </a:rPr>
              <a:t>Limitations to acknowledge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0149840" cy="1737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Only one random seed (42): results are preliminary, not statistical evidence across runs.</a:t>
            </a:r>
          </a:p>
          <a:p>
            <a:pPr>
              <a:spcAft>
                <a:spcPts val="5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Adaptive graph is constrained by the supplied static graph; unseen edges cannot be learned.</a:t>
            </a:r>
          </a:p>
          <a:p>
            <a:pPr>
              <a:spcAft>
                <a:spcPts val="5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Results depend on the chosen preprocessing, training budget and baseline implementations.</a:t>
            </a:r>
          </a:p>
          <a:p>
            <a:pPr>
              <a:spcAft>
                <a:spcPts val="5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Further ablations and multi-seed experiments are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1">
                <a:solidFill>
                  <a:srgbClr val="97CADC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Adaptive graph reweighting is feasible—but did not improve overall PEMS forecasting in this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058400" cy="21031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5EDF5"/>
                </a:solidFill>
                <a:latin typeface="Aptos"/>
              </a:defRPr>
            </a:pPr>
            <a:r>
              <a:rPr dirty="0"/>
              <a:t>•  The project implements a traffic-state-conditioned graph reweighting module on top of a static road graph.</a:t>
            </a:r>
          </a:p>
          <a:p>
            <a:pPr>
              <a:spcAft>
                <a:spcPts val="1000"/>
              </a:spcAft>
              <a:defRPr sz="1800">
                <a:solidFill>
                  <a:srgbClr val="E5EDF5"/>
                </a:solidFill>
                <a:latin typeface="Aptos"/>
              </a:defRPr>
            </a:pPr>
            <a:r>
              <a:rPr dirty="0"/>
              <a:t>•  On PEMS04 and PEMS08, LSTM was strongest overall; CASTNet-Lite was slightly better than Adaptive CASTNet.</a:t>
            </a:r>
          </a:p>
          <a:p>
            <a:pPr>
              <a:spcAft>
                <a:spcPts val="1000"/>
              </a:spcAft>
              <a:defRPr sz="1800">
                <a:solidFill>
                  <a:srgbClr val="E5EDF5"/>
                </a:solidFill>
                <a:latin typeface="Aptos"/>
              </a:defRPr>
            </a:pPr>
            <a:r>
              <a:rPr dirty="0"/>
              <a:t>•  The negative result is useful: it identifies where the proposed adaptation needs further investigation.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600" b="1">
                <a:solidFill>
                  <a:srgbClr val="13233A"/>
                </a:solidFill>
                <a:latin typeface="Aptos"/>
              </a:rPr>
              <a:t>Selected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68680"/>
            <a:ext cx="914400" cy="50292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F7B"/>
                </a:solidFill>
                <a:latin typeface="Aptos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98480" cy="4937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1. Chen et al., “CASTNet: Convolution Augmented Graph Sampling Transformer Network for Traffic Flow Forecasting,” 2024.</a:t>
            </a:r>
          </a:p>
          <a:p>
            <a:pPr>
              <a:spcAft>
                <a:spcPts val="12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2. Huo et al., hierarchical spatio-temporal graph convolution and Transformer for traffic-flow forecasting, IEEE T-ITS, 2023.</a:t>
            </a:r>
          </a:p>
          <a:p>
            <a:pPr>
              <a:spcAft>
                <a:spcPts val="12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3. Li et al., “Diffusion Convolutional Recurrent Neural Network,” ICLR, 2018.</a:t>
            </a:r>
          </a:p>
          <a:p>
            <a:pPr>
              <a:spcAft>
                <a:spcPts val="12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4. Yu et al., “Spatio-Temporal Graph Convolutional Networks,” IJCAI, 2018.</a:t>
            </a:r>
          </a:p>
          <a:p>
            <a:pPr>
              <a:spcAft>
                <a:spcPts val="12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5. Wu et al., “Graph WaveNet for Deep Spatial-Temporal Graph Modeling,” IJCAI, 2019.</a:t>
            </a:r>
          </a:p>
          <a:p>
            <a:pPr>
              <a:spcAft>
                <a:spcPts val="12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6. Bai et al., “Adaptive Graph Convolutional Recurrent Network,” NeurIPS, 2020.</a:t>
            </a:r>
          </a:p>
          <a:p>
            <a:pPr>
              <a:spcAft>
                <a:spcPts val="12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•  7. Song et al., “Spatial-Temporal Synchronous Graph Convolutional Networks,” AAAI,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917</Words>
  <Application>Microsoft Office PowerPoint</Application>
  <PresentationFormat>Widescreen</PresentationFormat>
  <Paragraphs>118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VICTUS</dc:creator>
  <cp:keywords/>
  <dc:description>generated using python-pptx</dc:description>
  <cp:lastModifiedBy>Vanshika Beniwal</cp:lastModifiedBy>
  <cp:revision>4</cp:revision>
  <dcterms:created xsi:type="dcterms:W3CDTF">2013-01-27T09:14:16Z</dcterms:created>
  <dcterms:modified xsi:type="dcterms:W3CDTF">2026-10-30T13:26:24Z</dcterms:modified>
  <cp:category/>
</cp:coreProperties>
</file>